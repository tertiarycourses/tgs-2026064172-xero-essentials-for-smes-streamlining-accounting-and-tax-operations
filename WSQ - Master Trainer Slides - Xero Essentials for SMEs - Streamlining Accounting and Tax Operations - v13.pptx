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SGD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Sheet1!$A$2:$A$5</c:f>
              <c:strCache>
                <c:ptCount val="4"/>
                <c:pt idx="0">
                  <c:v>Revenue</c:v>
                </c:pt>
                <c:pt idx="1">
                  <c:v>Gross profit</c:v>
                </c:pt>
                <c:pt idx="2">
                  <c:v>Operating exp.</c:v>
                </c:pt>
                <c:pt idx="3">
                  <c:v>Net profit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180000</c:v>
                </c:pt>
                <c:pt idx="1">
                  <c:v>72000</c:v>
                </c:pt>
                <c:pt idx="2">
                  <c:v>51000</c:v>
                </c:pt>
                <c:pt idx="3">
                  <c:v>21000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$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Receivables (SGD)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Sheet1!$A$2:$A$6</c:f>
              <c:strCache>
                <c:ptCount val="5"/>
                <c:pt idx="0">
                  <c:v>Current</c:v>
                </c:pt>
                <c:pt idx="1">
                  <c:v>1–30</c:v>
                </c:pt>
                <c:pt idx="2">
                  <c:v>31–60</c:v>
                </c:pt>
                <c:pt idx="3">
                  <c:v>61–90</c:v>
                </c:pt>
                <c:pt idx="4">
                  <c:v>90+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48000</c:v>
                </c:pt>
                <c:pt idx="1">
                  <c:v>26000</c:v>
                </c:pt>
                <c:pt idx="2">
                  <c:v>14500</c:v>
                </c:pt>
                <c:pt idx="3">
                  <c:v>7800</c:v>
                </c:pt>
                <c:pt idx="4">
                  <c:v>4200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0505315-Xero-Essentials-for-SMEs-Streamlining-Accounting-and-Tax-Operations" TargetMode="External"/><Relationship Id="rId3" Type="http://schemas.openxmlformats.org/officeDocument/2006/relationships/hyperlink" Target="https://lms-tms.tertiaryinfotech.com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wsq-xero-essentials-for-smes-streamlining-accounting-and-tax-operations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hero-v13.png"/>
          <p:cNvPicPr>
            <a:picLocks noChangeAspect="1"/>
          </p:cNvPicPr>
          <p:nvPr/>
        </p:nvPicPr>
        <p:blipFill>
          <a:blip r:embed="rId2"/>
          <a:srcRect l="25113" r="25113"/>
          <a:stretch>
            <a:fillRect/>
          </a:stretch>
        </p:blipFill>
        <p:spPr>
          <a:xfrm>
            <a:off x="6126480" y="0"/>
            <a:ext cx="606521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53328" y="0"/>
            <a:ext cx="25603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93776"/>
            <a:ext cx="658368" cy="6583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1389888"/>
            <a:ext cx="5138928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WSQ COURSE SLIDES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64792"/>
            <a:ext cx="5257800" cy="2011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Xero Essentials for SMEs: Streamlining Accounting and Tax Operations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" y="3858768"/>
            <a:ext cx="1645920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096512"/>
            <a:ext cx="5257800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Course Code: TGS-2020505315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544568"/>
            <a:ext cx="525780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Tertiary Infotech Academy Pte Ltd · UEN 201200696W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Trainer: Dr Alfred Ang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806440"/>
            <a:ext cx="5257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Version v13 · 16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208776"/>
            <a:ext cx="52578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Concept visual · all course text remains editable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Take AM digital attendance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Take PM digital attendance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Take Assessment digital attendance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Scan the SSG/TRAQOM QR shown by the trainer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NAMED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3383280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00200" y="2240280"/>
            <a:ext cx="1600200" cy="1600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2240280"/>
            <a:ext cx="1600200" cy="1600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60520"/>
            <a:ext cx="2907792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736592"/>
            <a:ext cx="2907792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1737360"/>
            <a:ext cx="690372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783080"/>
            <a:ext cx="1920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53542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7408" y="2441448"/>
            <a:ext cx="690372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2487168"/>
            <a:ext cx="1920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10B981"/>
                </a:solidFill>
                <a:latin typeface="Arial"/>
              </a:rPr>
              <a:t>TITLE / DESIGNATION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487168"/>
            <a:ext cx="453542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Principal Trainer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07408" y="3145536"/>
            <a:ext cx="690372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3191256"/>
            <a:ext cx="1920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191256"/>
            <a:ext cx="453542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Adult educator and technology practitioner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3849624"/>
            <a:ext cx="690372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2" y="3895344"/>
            <a:ext cx="1920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F59E0B"/>
                </a:solidFill>
                <a:latin typeface="Arial"/>
              </a:rPr>
              <a:t>AREAS OF EXPERTISE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895344"/>
            <a:ext cx="453542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Digital productivity, accounting systems and business technology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07408" y="4553712"/>
            <a:ext cx="690372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4599432"/>
            <a:ext cx="1920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599432"/>
            <a:ext cx="453542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WSQ and professional technology programmes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07408" y="5257800"/>
            <a:ext cx="690372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45152" y="5303520"/>
            <a:ext cx="1920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303520"/>
            <a:ext cx="453542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LEARNER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Name and role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SME or industry 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Accounting-system experience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One outcome you want today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LEARNING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Participate and ask questions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Respect different experience levels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Keep phones silent and data confidential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Return from breaks on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ONE CONNECTED SME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Lumina Homeware Learning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1005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005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Set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781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29840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29840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26664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2666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9568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Import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4423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6448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6448" y="2057400"/>
            <a:ext cx="165201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43271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3271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6176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Transact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6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6" y="2057400"/>
            <a:ext cx="165201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59880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988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Control GST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764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9664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79664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76488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6488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9391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4248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9627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96272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9309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9309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5999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Close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FOUR ALIGNED TOPICS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Topic 1: Introduction to Xero Accounting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Topic 2: Input Data to Xero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Topic 3: Manage Goods and Services Tax (GST)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Topic 4: Financial and Accounting Reports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WHAT YOU WILL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LO1: Configure and import relevant data to the Xero accounting system.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LO2: Input and control day-to-day sales, purchasing, banking and inventory data in Xero.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LO3: Compute and review GST for expenses and invoices using appropriate Singapore tax rates.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LO4: Generate and interpret financial, accounting, ageing and GST reports for SME decisions.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ACCOUNTING AND TAX SYSTEM · ACC-ICT-4001-1.1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A1: Retrieve relevant data from other systems in the organisation.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A2: Input data into the accounting system.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A3: Use the system to determine and calculate supplier and vendor GST payables and receivables.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A4: Use the system to generate reports on corporate tax expenditure, assets and liabilities.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9:30 AM–6:30 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One-Day Lesson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1005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005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09:30 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781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29840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29840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26664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2666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9568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Topic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4423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6448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6448" y="2057400"/>
            <a:ext cx="165201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43271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3271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6176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Topic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6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6" y="2057400"/>
            <a:ext cx="165201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59880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988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Topic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764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9664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79664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76488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6488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9391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Topic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4248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9627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96272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9309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9309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5999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Assessment to 18:30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BEFORE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Individual assessment; no discussion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Open book: course materials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Phones and other materials under the table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own words; follow appeal and reassessment process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ASSESSMENT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and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WA (SAQ): 60 minutes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Oral Questioning: 20 minutes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Competent requires all criteria met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At least 75% attendance and assessment completion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MANDATORY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113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316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3161" y="2057400"/>
            <a:ext cx="201533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164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64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88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06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9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3091" y="2057400"/>
            <a:ext cx="201533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81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WA then OQ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99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302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3020" y="2057400"/>
            <a:ext cx="201533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1505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150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274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Submit on LMS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2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295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2950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1435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143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267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Sign summary record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DOWNLOAD FROM GITHUB OR 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 the Course Activities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5074920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148840"/>
            <a:ext cx="44805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OPTION A · CLONE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788920"/>
            <a:ext cx="4480560" cy="1143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git clone https://github.com/tertiarycourses/TGS-2020505315-Xero-Essentials-for-SMEs-Streamlining-Accounting-and-Tax-Operations.git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4224528"/>
            <a:ext cx="448056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  <a:hlinkClick r:id="rId2"/>
              </a:rPr>
              <a:t>Open the course repository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28800"/>
            <a:ext cx="5074920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148840"/>
            <a:ext cx="44805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OPTION B · DOWNLOAD ZIP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2788920"/>
            <a:ext cx="4480560" cy="1143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GitHub → Code → Download ZIP
Then open the activities/ folder.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4224528"/>
            <a:ext cx="448056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  <a:hlinkClick r:id="rId3"/>
              </a:rPr>
              <a:t>Open courseware on the LMS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84831"/>
            <a:ext cx="109728" cy="2148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93392"/>
            <a:ext cx="96926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1 · A1 ·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966960" cy="1188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Introduction to Xero Accounting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86200"/>
            <a:ext cx="96926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Cloud accounting · company setup · master data ·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502920"/>
            <a:ext cx="1554480" cy="10058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Accounting-system choices and the role of cloud accounting in an SME control environment.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Company settings, financial year, GST profile, home currency and user-access design.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governed migration sequence for chart of accounts, customers, suppliers and products/services.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Opening-balance controls: cut-off, completeness, mapping, reconciliation and sign-off.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From source document to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5603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64207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64207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Capture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38144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38144" y="2057400"/>
            <a:ext cx="25603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89120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Classify consistently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2057400"/>
            <a:ext cx="256032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14032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14032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Post to ledgers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5944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87967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7" y="2057400"/>
            <a:ext cx="256032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38944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3894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7695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Review and decide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Accounting systems an SME may encounter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Manual records — low cost, weak control at scale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Desktop accounting — local control, limited collaboration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Cloud accounting — shared, current records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ERP — integrated processes across functions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Xero manages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Invoices, quotes and receivables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Bills, purchase orders and payables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Bank accounts and reconciliation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Products/services, GST and reporting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accounting control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5603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64207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64207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Authorised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38144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38144" y="2057400"/>
            <a:ext cx="25603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89120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Structured transactions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2057400"/>
            <a:ext cx="256032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14032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14032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Automated ledger updates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5944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87967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7" y="2057400"/>
            <a:ext cx="256032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38944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3894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7695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Reviewable reports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Xero ecosystem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Core ledger and subledgers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Bank connections and imports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App integrations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Accountant collaboration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Select a plan by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Transaction volume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Number and roles of users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Inventory and purchase orders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Reporting and automation needs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Company setup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Legal and customer-facing identity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Financial year and accounting method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GST registration details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Home currency and multi-currency decision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Multi-currency is a governance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Confirm business need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Set the correct home currency first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Understand exchange-rate effects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Document irreversible or plan-specific settings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User roles and segregation of duties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Subscriber manages the organisation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Business &amp; accounting access is scoped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Invoice-only access limits entry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Read-only or adviser access supports review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Chart of Accounts is the reporting spine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Account type drives report placement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Tax rate supports GST treatment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Code and name support consistency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Archived accounts preserve history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 a usable account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Stable coding convention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Right level of detail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Avoid duplicate meaning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Map legacy accounts before import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Master-data quality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1005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005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781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29840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29840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26664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2666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9568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Standardise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4423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6448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6448" y="2057400"/>
            <a:ext cx="165201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43271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3271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6176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6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6" y="2057400"/>
            <a:ext cx="165201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59880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988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764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9664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79664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76488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6488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9391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Import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4248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9627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96272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9309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9309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5999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Reconcile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Contacts as a shared master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One contact may be customer and supplier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Terms and opening balance cut-off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GST and currency attributes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Duplicate prevention and ownership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Products and services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Tracked inventory item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Untracked item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Service item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Purchase and sales defaults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Financial settings anchor the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Financial year 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GST basis and registration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Lock dates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Time zone and default tax treatment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Conversion balances establish the cut-over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5603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64207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64207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Choose conversion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38144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38144" y="2057400"/>
            <a:ext cx="25603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89120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Load account balances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2057400"/>
            <a:ext cx="256032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14032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14032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Enter AR/AP detail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5944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87967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7" y="2057400"/>
            <a:ext cx="256032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38944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3894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7695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Reconcile and lock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Inventory item accounting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5603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64207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64207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Purchase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38144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38144" y="2057400"/>
            <a:ext cx="25603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89120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Inventory 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2057400"/>
            <a:ext cx="256032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14032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14032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Sale revenue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5944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87967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7" y="2057400"/>
            <a:ext cx="256032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38944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3894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7695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Cost of goods sold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Opening balances need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Trial balance at cut-off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AR/AP detail matches control totals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Bank statement agrees to cash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Inventory quantity and value are supported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Migration control totals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Record count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Debit/credit totals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Opening balance totals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Exception log and sign-off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Import or enter manually?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import for clean repeatable lists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manual entry for low volume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Test a small sample first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Retain the source and import result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1 control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1965960"/>
            <a:ext cx="10533888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1965960"/>
            <a:ext cx="109728" cy="2971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404872"/>
            <a:ext cx="9646920" cy="18288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successful setup is not just complete; it is reconciled, access-controlled and explainable.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230368"/>
            <a:ext cx="96469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evidence · preserve audit trail · escalate uncertainty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01 · FOUNDATION · A1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the SME Organisation and Control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662940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93392"/>
            <a:ext cx="6080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BUSINESS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68880"/>
            <a:ext cx="6080760" cy="8046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Create a controlled Xero organisation profile for Lumina Homeware Pte Ltd.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773936"/>
            <a:ext cx="3675887" cy="1874519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993392"/>
            <a:ext cx="31272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50592"/>
            <a:ext cx="3127248" cy="8778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Organisation profile evidence, GST and financial-year settings, user-access matrix and setup sign-off.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105656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Legal identity and financial year match the scenario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36792" y="410565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GST profile is documented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" y="506577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Home currency decision is approved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36792" y="5065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Access roles follow least privilege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971032"/>
            <a:ext cx="10515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Detailed procedure and evidence workbook: activities/activity-01-company-setup-and-controls/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02 · FOUNDATION · A1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Clean and Import Master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662940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93392"/>
            <a:ext cx="6080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BUSINESS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68880"/>
            <a:ext cx="6080760" cy="8046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Prepare, validate and import the chart of accounts, customers, suppliers and products/services.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773936"/>
            <a:ext cx="3675887" cy="1874519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993392"/>
            <a:ext cx="31272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50592"/>
            <a:ext cx="3127248" cy="8778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Import-ready CSV files, control totals, import results and exception log.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105656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All source files pass the quality checks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36792" y="410565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Counts reconcile before and after import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" y="506577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 duplicate display names remain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36792" y="5065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Account and item mappings are supportable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971032"/>
            <a:ext cx="10515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Detailed procedure and evidence workbook: activities/activity-02-master-data-import/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1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Accounting-system choices and the role of cloud accounting in an SME control environment.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Company settings, financial year, GST profile, home currency and user-access design.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governed migration sequence for chart of accounts, customers, suppliers and products/services.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Opening-balance controls: cut-off, completeness, mapping, reconciliation and sign-off.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84831"/>
            <a:ext cx="109728" cy="2148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93392"/>
            <a:ext cx="96926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2 · A2 · K2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966960" cy="1188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Input Data to Xero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86200"/>
            <a:ext cx="96926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Banking · sales · purchases · inventory · recurring transactions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502920"/>
            <a:ext cx="1554480" cy="10058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source-document-to-ledger cycle for bank, sales, purchasing and inventory transactions.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Accounts receivable from quote through invoice, payment, credit note and overdue follow-up.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Accounts payable from purchase order through bill, payment, supplier credit note and recurring expense.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Control points for duplicate prevention, approvals, History &amp; Notes, tracking categories and reconciliation.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Transaction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1005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005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781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29840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29840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26664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2666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9568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Authorise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4423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6448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6448" y="2057400"/>
            <a:ext cx="165201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43271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3271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6176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6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6" y="2057400"/>
            <a:ext cx="165201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59880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988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Settle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764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9664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79664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76488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6488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9391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Reconcile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4248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9627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96272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9309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9309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5999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Bank feeds and file imports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Connection can reduce rekeying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CSV import supports controlled batches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Downloaded does not mean correctly posted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Review every match, add and exclusion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Banking rule of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1965960"/>
            <a:ext cx="10533888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1965960"/>
            <a:ext cx="109728" cy="2971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404872"/>
            <a:ext cx="9646920" cy="18288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bank feed is a source; the ledger classification and reconciliation are the control.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230368"/>
            <a:ext cx="96469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evidence · preserve audit trail · escalate uncertainty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 bank account correctly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Correct account type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Clear account name and number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Opening date and balance evidence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Owner and reconciliation frequency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Match, create or transfer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Match an existing Xero transaction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Create a genuine spend/receive money item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Transfer between own bank accounts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Discuss uncertain items before posting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Receive money, spend money and transfer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Receive money records non-invoice receipts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Spend money records immediate payments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Transfer moves value between own accounts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Each needs date, account and evidence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Bank reconciliation equation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5603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64207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64207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Statement ending balance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38144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38144" y="2057400"/>
            <a:ext cx="25603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89120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Add deposits in transit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2057400"/>
            <a:ext cx="256032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14032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14032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Less outstanding payments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5944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87967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7" y="2057400"/>
            <a:ext cx="256032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38944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3894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7695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Equals ledger balance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Reconciliation differences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Wrong date or amount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Duplicate or missing transaction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Uncleared item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Opening-balance or bank-charge issue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Sales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1005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005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Quote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781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29840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29840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26664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2666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9568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Customer acceptance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4423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6448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6448" y="2057400"/>
            <a:ext cx="165201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43271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3271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6176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Invoice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6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6" y="2057400"/>
            <a:ext cx="165201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59880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988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Payment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764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9664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79664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76488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6488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9391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Reconcile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4248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9627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96272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9309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9309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5999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Follow up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Quote, invoice or receive money?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Quote — non-posting offer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Invoice — sale on credit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Receive money — non-invoice receipt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Credit note — reduces customer balance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Invoice quality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Correct customer and 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Accurate product, quantity and price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Terms and tax rate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Unique document number and supporting evidence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Invoice branding themes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Brand identity and contact details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Readable item and tax information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Consistent payment terms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Preview before use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Receive and apply payment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Customer identity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113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316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3161" y="2057400"/>
            <a:ext cx="201533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164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64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88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Open invoice 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06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9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3091" y="2057400"/>
            <a:ext cx="201533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81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Payment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99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302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3020" y="2057400"/>
            <a:ext cx="201533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1505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150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274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Deposit destination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2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295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2950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1435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143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267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Balance validation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overdue invoices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Review ageing buckets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Prioritise material exposures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Document collection action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Escalate disputes and credit risk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Purchasing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1005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005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Purchase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781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29840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29840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26664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2666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9568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Receive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4423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6448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6448" y="2057400"/>
            <a:ext cx="165201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43271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3271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6176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Supplier bill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6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6" y="2057400"/>
            <a:ext cx="165201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59880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988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Approve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764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9664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79664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76488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6488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9391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4248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9627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96272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9309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9309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5999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Reconcile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Spend money, bill or purchase order?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Spend money — paid now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Bill — pay later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Payment settles an approved bill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Purchase order — commitment, not expense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Three-way matching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5603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64207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64207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Purchase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38144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38144" y="2057400"/>
            <a:ext cx="25603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89120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Goods or service received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2057400"/>
            <a:ext cx="256032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14032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14032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Supplier invoice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5944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87967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7" y="2057400"/>
            <a:ext cx="256032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38944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3894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7695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Approved bill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Supplier credit notes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Record the supplier credit note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Allocate it to open bills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Preserve original documents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Verify AP control balance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Repeating transactions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for predictable repeated invoices or bills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Set schedule and end condition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Choose draft/approve/send status carefully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Review templates periodically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Inventory quantity and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Purchase increases quantity/value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Sale reduces quantity and recognises COGS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Adjustment needs reason and authorisation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Negative stock is a control warning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Tracking categories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Category answers the management question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Options stay mutually meaningful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a stable taxonomy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Review untracked transactions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History &amp; Notes as detective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Who changed what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When the change occurred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Edits, status and communication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Patterns requiring review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Internal control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Prevent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113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316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3161" y="2057400"/>
            <a:ext cx="201533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164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64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88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Detect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06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9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3091" y="2057400"/>
            <a:ext cx="201533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81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Correct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99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302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3020" y="2057400"/>
            <a:ext cx="201533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1505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150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274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2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295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2950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1435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143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267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Monitor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2 control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1965960"/>
            <a:ext cx="10533888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1965960"/>
            <a:ext cx="109728" cy="2971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404872"/>
            <a:ext cx="9646920" cy="18288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Fast data entry is useful only when source evidence, approval and reconciliation remain intact.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230368"/>
            <a:ext cx="96469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evidence · preserve audit trail · escalate uncertainty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03 · INTERMEDIATE · A2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Import Banking Data and Reconcile July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662940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93392"/>
            <a:ext cx="6080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BUSINESS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68880"/>
            <a:ext cx="6080760" cy="8046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Set up bank accounts, import statement lines and reconcile the July statement.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773936"/>
            <a:ext cx="3675887" cy="1874519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993392"/>
            <a:ext cx="31272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50592"/>
            <a:ext cx="3127248" cy="8778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Imported bank batch, classified transactions, reconciliation report and exception log.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105656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Imported row count matches the source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36792" y="410565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Every line is matched, created or transferred with a reason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" y="506577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Transfer is recorded once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36792" y="5065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Reconciliation difference is zero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971032"/>
            <a:ext cx="10515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Detailed procedure and evidence workbook: activities/activity-03-banking-and-reconciliation/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04 · INTERMEDIATE · A2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Process the Quote-to-Cash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662940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93392"/>
            <a:ext cx="6080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BUSINESS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68880"/>
            <a:ext cx="6080760" cy="8046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Process a quote, invoice, payment, customer credit note and overdue follow-up.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773936"/>
            <a:ext cx="3675887" cy="1874519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993392"/>
            <a:ext cx="31272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50592"/>
            <a:ext cx="3127248" cy="8778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Complete customer transaction chain, AR ageing evidence and collection action log.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105656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Quote-to-invoice chain is intact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36792" y="410565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Payment and credit are applied correctly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" y="506577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GST is consistent with source documents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36792" y="5065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AR ageing actions are specific and evidenced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971032"/>
            <a:ext cx="10515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Detailed procedure and evidence workbook: activities/activity-04-sales-and-receivables/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05 · INTERMEDIATE · A2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Process Purchasing and Payables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662940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93392"/>
            <a:ext cx="6080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BUSINESS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68880"/>
            <a:ext cx="6080760" cy="8046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Process purchase orders, supplier bills, payments, supplier credit notes and recurring expenses.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773936"/>
            <a:ext cx="3675887" cy="1874519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993392"/>
            <a:ext cx="31272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50592"/>
            <a:ext cx="3127248" cy="8778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Approved procure-to-pay chain, AP ageing evidence and recurring-template control.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105656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Three-way match is documented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36792" y="410565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Bill and payment retain source references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" y="506577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Supplier credit note is applied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36792" y="5065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Recurring template has an owner and review 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971032"/>
            <a:ext cx="10515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Detailed procedure and evidence workbook: activities/activity-05-purchasing-and-payables/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06 · INTERMEDIATE · A2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Inventory, Tracking Categories and History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662940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93392"/>
            <a:ext cx="6080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BUSINESS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68880"/>
            <a:ext cx="6080760" cy="8046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Review inventory movements, tracking quality and History &amp; Notes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773936"/>
            <a:ext cx="3675887" cy="1874519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993392"/>
            <a:ext cx="31272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50592"/>
            <a:ext cx="3127248" cy="8778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Inventory roll-forward, untracked-transaction report and History &amp; Notes review.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105656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Inventory roll-forward reconciles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36792" y="410565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Untracked items are resolved or logged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" y="506577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History samples identify user and change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36792" y="5065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Corrective actions have owner and due 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971032"/>
            <a:ext cx="10515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Detailed procedure and evidence workbook: activities/activity-06-inventory-tracking-history/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2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source-document-to-ledger cycle for bank, sales, purchasing and inventory transactions.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Accounts receivable from quote through invoice, payment, credit note and overdue follow-up.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Accounts payable from purchase order through bill, payment, supplier credit note and recurring expense.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Control points for duplicate prevention, approvals, History &amp; Notes, tracking categories and reconciliation.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84831"/>
            <a:ext cx="109728" cy="2148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93392"/>
            <a:ext cx="96926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3 · A3 · K3 · K4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966960" cy="1188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Manage Goods and Services Tax (GST)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86200"/>
            <a:ext cx="96926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Singapore GST · tax coding · input/output tax · GST F5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502920"/>
            <a:ext cx="1554480" cy="10058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3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GST-registered businesses charge output tax and may claim eligible input tax under IRAS rules.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the correct current Xero tax rate for standard-rated, zero-rated, exempt and out-of-scope items.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Reconcile GST detail, exception and control accounts before preparing GST F5 figures.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Escalate uncertain treatments; accounting software supports preparation but does not replace tax advice.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GST in the value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5603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64207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64207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Supplier charges input GST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38144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38144" y="2057400"/>
            <a:ext cx="25603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89120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Business records purchase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2057400"/>
            <a:ext cx="256032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14032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14032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Business charges output GST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5944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87967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7" y="2057400"/>
            <a:ext cx="256032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38944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3894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7695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Net amount settles with IRAS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Current Singapore GST 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1965960"/>
            <a:ext cx="10533888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1965960"/>
            <a:ext cx="109728" cy="2971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404872"/>
            <a:ext cx="9646920" cy="18288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standard rate is 9% at publication; always verify time-sensitive tax rates and rules with IRAS.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230368"/>
            <a:ext cx="96469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evidence · preserve audit trail · escalate uncertainty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Taxable and non-taxable treatment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Standard-rated supply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Zero-rated supply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Exempt supply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Out-of-scope transaction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Output tax and input tax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Output tax is collected on taxable sales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Input tax may be claimable on eligible business purchases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Net output above input generally means payable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Net input above output may mean refundable, subject to IRAS rules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GST control formula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Taxable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113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316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3161" y="2057400"/>
            <a:ext cx="201533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164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64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88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Apply correct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06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9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3091" y="2057400"/>
            <a:ext cx="201533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81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GST amount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99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302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3020" y="2057400"/>
            <a:ext cx="201533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1505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150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274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Gross amount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2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295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2950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1435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143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267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Return box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Tax-inclusive and tax-exclusive amounts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Exclusive: GST = net × rate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Inclusive: GST = gross × rate ÷ (1 + rate)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Rounding policy must be consistent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Source document must support treatment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GST coding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Identify supply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113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316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3161" y="2057400"/>
            <a:ext cx="201533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164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64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88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Check registration/date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06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9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3091" y="2057400"/>
            <a:ext cx="201533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81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Determine place/type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99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302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3020" y="2057400"/>
            <a:ext cx="201533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1505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150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274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Select current 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2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295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2950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1435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143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267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Review exception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GST on sales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Correct supply category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Valid tax invoice information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Credit note reverses original treatment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Foreign-currency conversion is documented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GST on purchases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Business purpose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Valid supporting document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Claim eligibility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Correct period and tax rate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Common GST coding risks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Using standard rate by default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Claiming blocked/private expenses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Mixing exempt and out-of-scope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Back-dated changes after filing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Xero's single GST account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Xero posts transaction GST to one system account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Manually created GST accounts do not feed GST F5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Tax rate and treatment drive box mapping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Reconcile GST F5 detail to the ledger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GST F5 preparation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1005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005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Lock period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781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29840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29840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26664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2666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9568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Run exception checks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4423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6448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6448" y="2057400"/>
            <a:ext cx="165201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43271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3271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6176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Review GST detail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6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6" y="2057400"/>
            <a:ext cx="165201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59880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988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Reconcile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764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9664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79664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76488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6488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9391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Prepare figures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4248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9627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96272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9309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9309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5999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Approve and file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Exception-report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Transactions without tax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Unusual tax rate by account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Negative or duplicate amounts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Changes to prior filed periods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GST reconciliation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Sales ledger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113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316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3161" y="2057400"/>
            <a:ext cx="201533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164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64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88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Purchase ledger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06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9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3091" y="2057400"/>
            <a:ext cx="201533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81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GST detail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99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302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3020" y="2057400"/>
            <a:ext cx="201533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1505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150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274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Control account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2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295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2950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1435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143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267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GST return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When errors are found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Quantify affected periods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Preserve an audit trail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Correct through an approved method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Consult current IRAS guidance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Corporate tax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Accounting profit is not chargeable income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Current corporate tax rate is 17%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Tax adjustments and reliefs are time-sensitive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IRAS guidance or a qualified adviser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Records support compliance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Source documents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Ledger and reconciliations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Approval evidence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Filed return and payment evidence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3 control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1965960"/>
            <a:ext cx="10533888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1965960"/>
            <a:ext cx="109728" cy="2971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404872"/>
            <a:ext cx="9646920" cy="18288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Correct GST reporting begins at transaction coding and ends with an evidenced reconciliation.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230368"/>
            <a:ext cx="96469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evidence · preserve audit trail · escalate uncertainty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07 · INTERMEDIATE · A3 · K3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Code and Validate GST Transactions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662940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93392"/>
            <a:ext cx="6080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BUSINESS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68880"/>
            <a:ext cx="6080760" cy="8046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Apply and validate Singapore GST treatment across a mixed transaction set.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773936"/>
            <a:ext cx="3675887" cy="1874519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993392"/>
            <a:ext cx="31272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50592"/>
            <a:ext cx="3127248" cy="8778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GST coding register, calculation checks and resolved exception log.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105656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Every transaction has a supported classification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36792" y="410565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Formula checks agree to system tax amounts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" y="506577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Uncertain items are escalated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36792" y="5065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Credits mirror original tax treatment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971032"/>
            <a:ext cx="10515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Detailed procedure and evidence workbook: activities/activity-07-gst-coding-control/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08 · ADVANCED · A3 · K3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Prepare the GST F5 Review 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662940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93392"/>
            <a:ext cx="6080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BUSINESS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68880"/>
            <a:ext cx="6080760" cy="8046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Reconcile GST ledgers and prepare a review pack for the quarterly GST return.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773936"/>
            <a:ext cx="3675887" cy="1874519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993392"/>
            <a:ext cx="31272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50592"/>
            <a:ext cx="3127248" cy="8778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GST summary/detail reconciliation, exception report and reviewer sign-off pack.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105656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GST detail agrees to control accounts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36792" y="410565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F5 control figures are formula-driven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" y="506577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Sample evidence is traceable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36792" y="5065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Preparer and reviewer sign-offs are complete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971032"/>
            <a:ext cx="10515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Detailed procedure and evidence workbook: activities/activity-08-gst-f5-review/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3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GST-registered businesses charge output tax and may claim eligible input tax under IRAS rules.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the correct current Xero tax rate for standard-rated, zero-rated, exempt and out-of-scope items.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Reconcile GST detail, exception and control accounts before preparing GST F5 figures.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Escalate uncertain treatments; accounting software supports preparation but does not replace tax advice.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84831"/>
            <a:ext cx="109728" cy="2148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93392"/>
            <a:ext cx="96926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4 · A4 · K5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966960" cy="1188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Financial and Accounting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86200"/>
            <a:ext cx="96926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P&amp;L · balance sheet · cash flow · ageing · GST · custom reports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502920"/>
            <a:ext cx="1554480" cy="10058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Profit and Loss explains performance over a period; Balance Sheet explains position at a date.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Cash flow, profit and working capital answer different management questions.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AR/AP ageing turns overdue balances into collection and payment priorities.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Report accuracy depends on reconciled source data, correct basis, period, filters and review evidence.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Reports turn entries into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Transactions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113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316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3161" y="2057400"/>
            <a:ext cx="201533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164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64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88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Ledgers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06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9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3091" y="2057400"/>
            <a:ext cx="201533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81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Reconciliations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99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302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3020" y="2057400"/>
            <a:ext cx="201533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1505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150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274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Reports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2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295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2950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1435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143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267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Management action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Profit and Loss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113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316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3161" y="2057400"/>
            <a:ext cx="201533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164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64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88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Less cost of sales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06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9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3091" y="2057400"/>
            <a:ext cx="201533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81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Gross profit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99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302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3020" y="2057400"/>
            <a:ext cx="201533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1505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150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274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Less operating expenses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2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295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2950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1435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143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267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Net profit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P&amp;L review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Which revenue streams changed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What drove gross margin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Which expenses are unusual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Are period and accounting basis correct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Balance Sheet equation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1965960"/>
            <a:ext cx="10533888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1965960"/>
            <a:ext cx="109728" cy="2971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404872"/>
            <a:ext cx="9646920" cy="18288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Assets = Liabilities + Owners' Equity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230368"/>
            <a:ext cx="96469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evidence · preserve audit trail · escalate uncertainty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Balance Sheet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Current and non-current assets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Current and non-current liabilities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Equity and retained earnings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Control accounts requiring reconciliation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Balance Sheet 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Snapshot at one 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Book value may differ from market value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Unrecorded intangibles may matter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Classification quality affects interpretation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P&amp;L versus Balance Sheet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P&amp;L covers a period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Balance Sheet is at a 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Profit changes retained earnings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Cash is not the same as profit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Cash flow versus profit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Profit uses accrual accounting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Cash flow tracks cash movements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Credit sales can raise profit before cash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Asset purchases use cash but are not immediately expensed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 ageing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Current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1–30 days overdue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31–60 days overdue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61+ days overdue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 ageing to manage credit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Validate balances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113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316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3161" y="2057400"/>
            <a:ext cx="201533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164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64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88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Segment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06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9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3091" y="2057400"/>
            <a:ext cx="201533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81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Prioritise contact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99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302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3020" y="2057400"/>
            <a:ext cx="201533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1505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150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274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Record 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2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295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2950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1435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143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267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Escalate dispute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 ageing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Protect supplier terms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Avoid duplicate payment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Plan cash requirements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Resolve disputed bills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GST 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GST F5 summary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Transactions by box number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Account Transactions detail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Return preparation view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Report parameters matter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Date range and as-of 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Cash or accrual basis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Tracking categories and filters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Comparison period and rounding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Custom 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Define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113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316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3161" y="2057400"/>
            <a:ext cx="201533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164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64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88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Choose base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06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9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3091" y="2057400"/>
            <a:ext cx="201533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81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Set filters/columns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99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302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3020" y="2057400"/>
            <a:ext cx="201533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1505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150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274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Validate totals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2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295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2950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1435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143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267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Save and schedule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Scheduled reports need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Review recipient access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an approved cadence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Protect confidential attachments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Revalidate after chart/config changes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Report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Reconcile 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113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316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3161" y="2057400"/>
            <a:ext cx="201533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164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64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88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Check parameters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06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9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3091" y="2057400"/>
            <a:ext cx="201533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81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Scan anomalies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99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302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3020" y="2057400"/>
            <a:ext cx="201533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1505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150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274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Trace a sample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2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295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2950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1435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143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267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Document reviewer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SME management 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P&amp;L with prior-period comparison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Balance Sheet with key reconciliations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AR/AP ageing and cash priorities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GST position and exception log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4 control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1965960"/>
            <a:ext cx="10533888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1965960"/>
            <a:ext cx="109728" cy="2971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404872"/>
            <a:ext cx="9646920" cy="18288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report is decision-ready only when its source data, parameters and review are evidenced.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230368"/>
            <a:ext cx="96469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evidence · preserve audit trail · escalate uncertainty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Illustrative Monthly Performance — Jul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22960" y="1783080"/>
          <a:ext cx="67665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882127" y="1874519"/>
            <a:ext cx="3419856" cy="3822191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2148840"/>
            <a:ext cx="2788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REVIEW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670048"/>
            <a:ext cx="2788920" cy="2423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What drives gross margin?
•  Which expenses are unusual?
•  Does profit convert to cash?
•  Which action changes the trend?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Illustrative AR Ageing — 31 Jul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22960" y="1783080"/>
          <a:ext cx="67665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882127" y="1874519"/>
            <a:ext cx="3419856" cy="3822191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2148840"/>
            <a:ext cx="2788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F59E0B"/>
                </a:solidFill>
                <a:latin typeface="Arial"/>
              </a:rPr>
              <a:t>READ THE SHAPE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670048"/>
            <a:ext cx="2788920" cy="2423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Focus on material overdue balances
•  Separate dispute from collection risk
•  Assign owner and next action
•  Reconcile total to AR control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09 · ADVANCED · A4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and Interpret the SME Reporting 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662940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93392"/>
            <a:ext cx="6080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BUSINESS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68880"/>
            <a:ext cx="6080760" cy="8046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Generate, validate and interpret core financial and ageing reports.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773936"/>
            <a:ext cx="3675887" cy="1874519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993392"/>
            <a:ext cx="31272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50592"/>
            <a:ext cx="3127248" cy="8778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P&amp;L, Balance Sheet, AR/AP ageing and management action summary.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105656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Report parameters are consistent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36792" y="410565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Balance Sheet equation holds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" y="506577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Control accounts reconcile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36792" y="5065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Insights link to evidence and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971032"/>
            <a:ext cx="10515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Detailed procedure and evidence workbook: activities/activity-09-financial-reporting-pack/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10 · ADVANCED · A1 · A2 · A3 · A4 · K1–K5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Capstone: Complete the Month-End Close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662940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93392"/>
            <a:ext cx="6080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BUSINESS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68880"/>
            <a:ext cx="6080760" cy="8046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Complete a controlled month-end close for Lumina Homeware Pte Ltd and present a decision-ready management brief.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773936"/>
            <a:ext cx="3675887" cy="1874519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993392"/>
            <a:ext cx="31272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50592"/>
            <a:ext cx="3127248" cy="8778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Closed-period checklist, reconciliations, GST review, reporting pack and management brief.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105656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All five control accounts reconcile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36792" y="410565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Seeded anomalies are found and resolved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" y="506577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GST and reporting packs are supported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36792" y="5065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Management brief contains evidence-backed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971032"/>
            <a:ext cx="10515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Detailed procedure and evidence workbook: activities/activity-10-month-end-capstone/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4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Profit and Loss explains performance over a period; Balance Sheet explains position at a date.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Cash flow, profit and working capital answer different management questions.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AR/AP ageing turns overdue balances into collection and payment priorities.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Report accuracy depends on reconciled source data, correct basis, period, filters and review evidence.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COURSE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LO1: Configure and import relevant data to the Xero accounting system.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LO2: Input and control day-to-day sales, purchasing, banking and inventory data in Xero.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LO3: Compute and review GST for expenses and invoices using appropriate Singapore tax rates.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LO4: Generate and interpret financial, accounting, ageing and GST reports for SME decisions.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DOWNLOAD · COMPLETE ·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Courseware and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874519"/>
            <a:ext cx="4937760" cy="15727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103120"/>
            <a:ext cx="4425696" cy="10058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Download the learner slides and Learner Guide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74519"/>
            <a:ext cx="4937760" cy="15727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103120"/>
            <a:ext cx="4425696" cy="10058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Open each activity folder and workbook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31920"/>
            <a:ext cx="4937760" cy="15727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160520"/>
            <a:ext cx="4425696" cy="10058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Complete the assessment in the scheduled window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931920"/>
            <a:ext cx="4937760" cy="15727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4160520"/>
            <a:ext cx="4425696" cy="10058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Upload answers and retain submission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5815584"/>
            <a:ext cx="4251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FINAL REMINDER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WA (SAQ): 60 minutes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OQ: 20 minutes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Individual and open book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Take assessment digital attendance and submit as instructed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MANDATORY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113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316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3161" y="2057400"/>
            <a:ext cx="201533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164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64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88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06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9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3091" y="2057400"/>
            <a:ext cx="201533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81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WA then OQ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99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302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3020" y="2057400"/>
            <a:ext cx="201533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1505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150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274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Submit on LMS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2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295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2950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1435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143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267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Sign summary record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Take assessment digital attendance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Scan the SSG/TRAQOM QR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Submit before leaving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Confirm with the trainer if uncertain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XERO FOR SMES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Xero Essentials for SMEs: Streamlining Accounting and Tax Operations · TGS-2020505315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1965960"/>
            <a:ext cx="10533888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1965960"/>
            <a:ext cx="109728" cy="2971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404872"/>
            <a:ext cx="9646920" cy="18288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 clean data, sound controls and reconciled reports to make better SME decisions.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230368"/>
            <a:ext cx="96469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evidence · preserve audit trail · escalate uncertainty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5669280"/>
            <a:ext cx="4937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5B6372"/>
                </a:solidFill>
                <a:latin typeface="Arial"/>
                <a:hlinkClick r:id="rId2"/>
              </a:rPr>
              <a:t>enquiry@tertiaryinfotech.com · tertiarycourses.com.sg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Xero Essentials for SMEs: Streamlining Accounting and Tax Operations</dc:title>
  <dc:subject>WSQ TGS-2020505315 course slides</dc:subject>
  <dc:creator>Tertiary Infotech Academy Pte Ltd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